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4608"/>
            <a:ext cx="12188952" cy="1993392"/>
          </a:xfrm>
          <a:prstGeom prst="rect">
            <a:avLst/>
          </a:prstGeom>
          <a:solidFill>
            <a:srgbClr val="101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0C8E8"/>
                </a:solidFill>
                <a:latin typeface="Calibri"/>
              </a:rPr>
              <a:t>Physical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A500"/>
                </a:solidFill>
                <a:latin typeface="Calibri"/>
              </a:rPr>
              <a:t>Lesson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90B8D8"/>
                </a:solidFill>
                <a:latin typeface="Calibri"/>
              </a:rPr>
              <a:t>Understanding the building blocks of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098B8"/>
                </a:solidFill>
                <a:latin typeface="Calibri"/>
              </a:rPr>
              <a:t>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5074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A500"/>
                </a:solidFill>
                <a:latin typeface="Calibri"/>
              </a:rPr>
              <a:t>U1 · 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Learning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By the end of this lesson you will be able to…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2/11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463040"/>
            <a:ext cx="274320" cy="11887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536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  <a:latin typeface="Calibri"/>
              </a:rPr>
              <a:t>U1  – 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  <a:latin typeface="Calibri"/>
              </a:rPr>
              <a:t>Explain what an algorithm is and why it is fundamental to computing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11274552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274320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07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Calibri"/>
              </a:rPr>
              <a:t>K1  – 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  <a:latin typeface="Calibri"/>
              </a:rPr>
              <a:t>Identify and describe the three core control structures:
Sequence · Selection · Iteration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1274552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274320" cy="1188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79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EQ1  –  ESSENTIAL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  <a:latin typeface="Calibri"/>
              </a:rPr>
              <a:t>What is an algorithm, and why is it important in computer science?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B8B"/>
                </a:solidFill>
                <a:latin typeface="Calibri"/>
              </a:rPr>
              <a:t>🎯  Connect: These goals link directly to your final assessment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Warm Up  ·  Think-Pair-Share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Activating prior knowledge  |  ~5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3/11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74552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  <a:latin typeface="Calibri"/>
              </a:rPr>
              <a:t>💬  THINK  about this scenario: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44"/>
                </a:solidFill>
                <a:latin typeface="Calibri"/>
              </a:rPr>
              <a:t>You need to teach a robot – that can only follow very specific step-by-step instructions – how to make a Vegemite sandwich.
What instructions would you give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  <a:latin typeface="Calibri"/>
              </a:rPr>
              <a:t>Discuss with your partner: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Q1.  What information does the robot need before it can start?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67328"/>
            <a:ext cx="11274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Q2.  What happens if you skip a step?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25696"/>
            <a:ext cx="11274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Q3.  Does the order of the steps matter? Why?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84064"/>
            <a:ext cx="11274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1149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Q4.  Can two people write different instructions and both be 'correct'?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an Algorithm?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New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4/11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1274552" cy="1143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"An algorithm is a precise, step-by-step set of instructions designed to
solve a problem or complete a task."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  <a:latin typeface="Calibri"/>
              </a:rPr>
              <a:t>Key Characteristics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5394960" cy="4480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Finite – it must eventually stop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48456"/>
            <a:ext cx="5394960" cy="4480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Definite – each step is unambiguous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5394960" cy="4480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Input – takes zero or more inputs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36008"/>
            <a:ext cx="5394960" cy="4480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5429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Output – produces at least one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9784"/>
            <a:ext cx="5394960" cy="4480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4807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Effective – every step can be carried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  <a:latin typeface="Calibri"/>
              </a:rPr>
              <a:t>Algorithms are everywhere!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54680"/>
            <a:ext cx="5394960" cy="448056"/>
          </a:xfrm>
          <a:prstGeom prst="rect">
            <a:avLst/>
          </a:prstGeom>
          <a:solidFill>
            <a:srgbClr val="FFF8E7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17296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▸  Recipe for baking a cake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648456"/>
            <a:ext cx="5394960" cy="448056"/>
          </a:xfrm>
          <a:prstGeom prst="rect">
            <a:avLst/>
          </a:prstGeom>
          <a:solidFill>
            <a:srgbClr val="FFF8E7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6667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▸  GPS turn-by-turn directions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142232"/>
            <a:ext cx="5394960" cy="448056"/>
          </a:xfrm>
          <a:prstGeom prst="rect">
            <a:avLst/>
          </a:prstGeom>
          <a:solidFill>
            <a:srgbClr val="FFF8E7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605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▸  Sorting playlist by artist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636008"/>
            <a:ext cx="5394960" cy="448056"/>
          </a:xfrm>
          <a:prstGeom prst="rect">
            <a:avLst/>
          </a:prstGeom>
          <a:solidFill>
            <a:srgbClr val="FFF8E7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65429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▸  Google Search ranking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129784"/>
            <a:ext cx="5394960" cy="448056"/>
          </a:xfrm>
          <a:prstGeom prst="rect">
            <a:avLst/>
          </a:prstGeom>
          <a:solidFill>
            <a:srgbClr val="FFF8E7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14807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  <a:latin typeface="Calibri"/>
              </a:rPr>
              <a:t>▸  Face unlock on your phone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697480"/>
            <a:ext cx="54864" cy="3474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Control Structure 1  · 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New Learning  |  K1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5/11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SEQUENCE  =  Steps are executed one after another, in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377440"/>
            <a:ext cx="1828800" cy="594360"/>
          </a:xfrm>
          <a:prstGeom prst="rect">
            <a:avLst/>
          </a:prstGeom>
          <a:solidFill>
            <a:srgbClr val="008B8B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377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37744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377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Pick up kettle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37744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377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Fill with water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37744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377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Boil water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19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11480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14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Place teabag in cup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11480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4114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Pour water into cup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4114800"/>
            <a:ext cx="1828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114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Remove teabag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4114800"/>
            <a:ext cx="1828800" cy="594360"/>
          </a:xfrm>
          <a:prstGeom prst="rect">
            <a:avLst/>
          </a:prstGeom>
          <a:solidFill>
            <a:srgbClr val="008B8B"/>
          </a:solidFill>
          <a:ln w="1905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4114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8B8B"/>
                </a:solidFill>
                <a:latin typeface="Calibri"/>
              </a:rPr>
              <a:t>Example: Making a cup of tea – each step must happen in the right order!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0DAD"/>
                </a:solidFill>
                <a:latin typeface="Calibri"/>
              </a:rPr>
              <a:t>Python pseudocode:  boil_kettle()  →  add_teabag()  →  pour_water()  →  remove_teabag()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65510"/>
                </a:solidFill>
                <a:latin typeface="Calibri"/>
              </a:rPr>
              <a:t>If you put steps out of sequence, the algorithm fails – just like code!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Control Structure 2  · 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New Learning  |  K1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6/11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SELECTION  =  The algorithm makes a decision and follows different paths depending on a condition.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331720"/>
            <a:ext cx="2743200" cy="5486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80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200400"/>
            <a:ext cx="3657600" cy="685800"/>
          </a:xfrm>
          <a:prstGeom prst="rect">
            <a:avLst/>
          </a:prstGeom>
          <a:solidFill>
            <a:srgbClr val="FFF5C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2004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44"/>
                </a:solidFill>
                <a:latin typeface="Calibri"/>
              </a:rPr>
              <a:t>Is it raining?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48"/>
                </a:solidFill>
                <a:latin typeface="Calibri"/>
              </a:rPr>
              <a:t>YES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297680"/>
            <a:ext cx="3200400" cy="548640"/>
          </a:xfrm>
          <a:prstGeom prst="rect">
            <a:avLst/>
          </a:prstGeom>
          <a:solidFill>
            <a:srgbClr val="D4EDDA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44"/>
                </a:solidFill>
                <a:latin typeface="Calibri"/>
              </a:rPr>
              <a:t>Take an umbrella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31927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510"/>
                </a:solidFill>
                <a:latin typeface="Calibri"/>
              </a:rPr>
              <a:t>NO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200400"/>
            <a:ext cx="2743200" cy="685800"/>
          </a:xfrm>
          <a:prstGeom prst="rect">
            <a:avLst/>
          </a:prstGeom>
          <a:solidFill>
            <a:srgbClr val="FFE5D0"/>
          </a:solidFill>
          <a:ln w="19050">
            <a:solidFill>
              <a:srgbClr val="E65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200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44"/>
                </a:solidFill>
                <a:latin typeface="Calibri"/>
              </a:rPr>
              <a:t>Leave umbrella at 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2860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A0DAD"/>
                </a:solidFill>
                <a:latin typeface="Calibri"/>
              </a:rPr>
              <a:t>Python syntax:
if is_raining:
    take_umbrella()
else:
    leave_umbrella_home()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333344"/>
                </a:solidFill>
                <a:latin typeface="Calibri"/>
              </a:rPr>
              <a:t>Also called: IF–THEN–ELSE  |  Can be nested (selection inside selection)
Selection lets programs respond differently depending on data or user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Control Structure 3  · 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New Learning  |  K1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7/11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ITERATION  =  A block of steps is repeated – either a set number of times or until a condition is met.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5486400" cy="6400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FOR Loop
(Counted)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5212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Repeat a fixed number of times.
for i in range(10):
    print(i)
Example: Deal 5 cards to each player.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331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331720"/>
            <a:ext cx="5486400" cy="6400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WHILE Loop
(Conditional)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5212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Repeat WHILE a condition is True.
while battery &gt; 0:
    play_music()
Example: Keep walking while you haven't reached school.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B8B"/>
                </a:solidFill>
                <a:latin typeface="Calibri"/>
              </a:rPr>
              <a:t>Iteration avoids repeating the same code over and over — it makes programs efficient!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Control Structures  · 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K1  –  Know all three!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8/11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3657600" cy="4846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63040"/>
            <a:ext cx="3657600" cy="914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90472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5819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  <a:latin typeface="Calibri"/>
              </a:rPr>
              <a:t>Definition: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34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Steps run one after
another, in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  <a:latin typeface="Calibri"/>
              </a:rPr>
              <a:t>Examples: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Making tea
Following a recipe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1463040"/>
            <a:ext cx="3657600" cy="4846320"/>
          </a:xfrm>
          <a:prstGeom prst="rect">
            <a:avLst/>
          </a:prstGeom>
          <a:solidFill>
            <a:srgbClr val="FFFFFF"/>
          </a:solidFill>
          <a:ln w="317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7" y="1463040"/>
            <a:ext cx="3657600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7" y="1490472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15819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  <a:latin typeface="Calibri"/>
              </a:rPr>
              <a:t>Definition: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834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The program makes a
choice (IF / ELSE).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611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  <a:latin typeface="Calibri"/>
              </a:rPr>
              <a:t>Examples: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319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Take umbrella IF raining
Game difficulty level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1896" y="1463040"/>
            <a:ext cx="3657600" cy="4846320"/>
          </a:xfrm>
          <a:prstGeom prst="rect">
            <a:avLst/>
          </a:prstGeom>
          <a:solidFill>
            <a:srgbClr val="FFFFFF"/>
          </a:solidFill>
          <a:ln w="317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1896" y="1463040"/>
            <a:ext cx="3657600" cy="9144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490472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15819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ITERATION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  <a:latin typeface="Calibri"/>
              </a:rPr>
              <a:t>Definition: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2834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Steps are repeated
(FOR / WHILE loops).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4776" y="3611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  <a:latin typeface="Calibri"/>
              </a:rPr>
              <a:t>Examples: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39319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Shuffle playlist
Count down timer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1A235E"/>
                </a:solidFill>
                <a:latin typeface="Calibri"/>
              </a:rPr>
              <a:t>💡  Every program ever written uses some combination of these three structures.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Dive In  ·  Algorithms in Everyday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Can you spot the control structures?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9/11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36576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3657600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3560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Morning Routine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  <a:latin typeface="Calibri"/>
              </a:rPr>
              <a:t>1. WAKE UP (start)
2. IF alarm went off THEN turn off
3. Brush teeth, shower, dress (sequence)
4. WHILE not full THEN eat breakfast
5. Grab bag and leave (end)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6576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17320"/>
            <a:ext cx="3657600" cy="5943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43560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Traffic 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103120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  <a:latin typeface="Calibri"/>
              </a:rPr>
              <a:t>WHILE intersection active:
  Show RED for 60 seconds
  Show GREEN for 45 seconds
  IF pedestrian button pressed
    THEN show WALK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6576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657600" cy="594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43560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Streaming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03120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  <a:latin typeface="Calibri"/>
              </a:rPr>
              <a:t>WHILE you keep watching:
  Play next episode
  IF credits start THEN
    show 'Next Episode in 5s'
    IF no input THEN auto-play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A500"/>
                </a:solidFill>
                <a:latin typeface="Calibri"/>
              </a:rPr>
              <a:t>Challenge: Find the SEQUENCE, SELECTION, and ITERATION in each example above. Highlight them!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Dive In  ·  Hour of Code: Minecraft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activity.code.org/mc  |  ~20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10/11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1274552" cy="9144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🎮  You are going to write algorithms to help a Minecraft character navigate and build!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4864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097280" cy="1508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0175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  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7432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Go to activity.code.org/mc
Complete Levels 1–5 to get started.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4864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1097280" cy="1508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0175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 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432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As you solve each puzzle, note which control
structures you are using.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54864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1097280" cy="1508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8463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 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5720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For each puzzle: can you solve it
with FEWER blocks?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43400"/>
            <a:ext cx="54864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1097280" cy="15087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48463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  REFLECT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5720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Write down: how many different algorithms
could solve the same puzzle?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333344"/>
                </a:solidFill>
                <a:latin typeface="Calibri"/>
              </a:rPr>
              <a:t>👆  You will need your school login.   💡  There is NO single correct answer – algorithms can vary!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Reflect  ·  Summary &amp;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  <a:latin typeface="Calibri"/>
              </a:rPr>
              <a:t>Lesson 1 –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91440"/>
            <a:ext cx="11887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097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Physical Computing  |  Year 7  |  Digital Technologies  |  Ivanhoe Grammar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BBCC"/>
                </a:solidFill>
                <a:latin typeface="Calibri"/>
              </a:rPr>
              <a:t>11/11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5E"/>
                </a:solidFill>
                <a:latin typeface="Calibri"/>
              </a:rPr>
              <a:t>Exit Ticket  –  Answer in your workbook before leaving class: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822960" cy="914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103120"/>
            <a:ext cx="10195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In the HoC Minecraft activity, identify ONE place where you used each control
structure: Sequence, Selection, and Iteration.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822960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08960"/>
            <a:ext cx="10195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Write a short algorithm (in plain English) to describe how you get from your
front door to your first class at school.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4552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14800"/>
            <a:ext cx="10195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Is there only ONE correct algorithm for any given problem? Justify your answer.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74552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822960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20640"/>
            <a:ext cx="10195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  <a:latin typeface="Calibri"/>
              </a:rPr>
              <a:t>What is one real-world product or app that you think uses algorithms? What
problem does that algorithm solve?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5E"/>
                </a:solidFill>
                <a:latin typeface="Calibri"/>
              </a:rPr>
              <a:t>Next lesson: We will represent algorithms visually using FLOWCHARTS  →  Lesson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